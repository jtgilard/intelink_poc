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TAY (CUSTOMS)" userId="ddb0d752-9d33-4b55-b7c0-d48663cca5d8" providerId="ADAL" clId="{80439428-F3BD-4599-B011-E7BB81EDECBE}"/>
    <pc:docChg chg="custSel mod modSld">
      <pc:chgData name="Jonathan TAY (CUSTOMS)" userId="ddb0d752-9d33-4b55-b7c0-d48663cca5d8" providerId="ADAL" clId="{80439428-F3BD-4599-B011-E7BB81EDECBE}" dt="2026-04-27T01:16:02.212" v="224" actId="33475"/>
      <pc:docMkLst>
        <pc:docMk/>
      </pc:docMkLst>
      <pc:sldChg chg="addSp modSp mod">
        <pc:chgData name="Jonathan TAY (CUSTOMS)" userId="ddb0d752-9d33-4b55-b7c0-d48663cca5d8" providerId="ADAL" clId="{80439428-F3BD-4599-B011-E7BB81EDECBE}" dt="2026-04-24T07:56:32.368" v="223" actId="20577"/>
        <pc:sldMkLst>
          <pc:docMk/>
          <pc:sldMk cId="0" sldId="256"/>
        </pc:sldMkLst>
        <pc:spChg chg="mod">
          <ac:chgData name="Jonathan TAY (CUSTOMS)" userId="ddb0d752-9d33-4b55-b7c0-d48663cca5d8" providerId="ADAL" clId="{80439428-F3BD-4599-B011-E7BB81EDECBE}" dt="2026-04-24T07:51:35.510" v="192" actId="14100"/>
          <ac:spMkLst>
            <pc:docMk/>
            <pc:sldMk cId="0" sldId="256"/>
            <ac:spMk id="4" creationId="{A165663B-76B7-535E-7ABF-8FD586A1B268}"/>
          </ac:spMkLst>
        </pc:spChg>
        <pc:spChg chg="add mod">
          <ac:chgData name="Jonathan TAY (CUSTOMS)" userId="ddb0d752-9d33-4b55-b7c0-d48663cca5d8" providerId="ADAL" clId="{80439428-F3BD-4599-B011-E7BB81EDECBE}" dt="2026-04-24T07:53:50.060" v="206" actId="20577"/>
          <ac:spMkLst>
            <pc:docMk/>
            <pc:sldMk cId="0" sldId="256"/>
            <ac:spMk id="5" creationId="{6AD78D91-06B4-0DAB-DA75-F0AF60927D31}"/>
          </ac:spMkLst>
        </pc:spChg>
        <pc:spChg chg="mod">
          <ac:chgData name="Jonathan TAY (CUSTOMS)" userId="ddb0d752-9d33-4b55-b7c0-d48663cca5d8" providerId="ADAL" clId="{80439428-F3BD-4599-B011-E7BB81EDECBE}" dt="2026-04-24T07:51:38.893" v="193" actId="14100"/>
          <ac:spMkLst>
            <pc:docMk/>
            <pc:sldMk cId="0" sldId="256"/>
            <ac:spMk id="6" creationId="{DA9D01C5-BC76-2A99-1DEA-3E29A1C16A6A}"/>
          </ac:spMkLst>
        </pc:spChg>
        <pc:spChg chg="mod">
          <ac:chgData name="Jonathan TAY (CUSTOMS)" userId="ddb0d752-9d33-4b55-b7c0-d48663cca5d8" providerId="ADAL" clId="{80439428-F3BD-4599-B011-E7BB81EDECBE}" dt="2026-04-24T07:51:41.479" v="194" actId="14100"/>
          <ac:spMkLst>
            <pc:docMk/>
            <pc:sldMk cId="0" sldId="256"/>
            <ac:spMk id="7" creationId="{C6703E9A-F7F9-B931-6180-868BEAEBA017}"/>
          </ac:spMkLst>
        </pc:spChg>
        <pc:spChg chg="mod">
          <ac:chgData name="Jonathan TAY (CUSTOMS)" userId="ddb0d752-9d33-4b55-b7c0-d48663cca5d8" providerId="ADAL" clId="{80439428-F3BD-4599-B011-E7BB81EDECBE}" dt="2026-04-24T07:51:43.805" v="195" actId="14100"/>
          <ac:spMkLst>
            <pc:docMk/>
            <pc:sldMk cId="0" sldId="256"/>
            <ac:spMk id="8" creationId="{574F96E8-C159-D638-3EE0-050AF76E12E6}"/>
          </ac:spMkLst>
        </pc:spChg>
        <pc:spChg chg="mod">
          <ac:chgData name="Jonathan TAY (CUSTOMS)" userId="ddb0d752-9d33-4b55-b7c0-d48663cca5d8" providerId="ADAL" clId="{80439428-F3BD-4599-B011-E7BB81EDECBE}" dt="2026-04-24T07:51:47.848" v="196" actId="1076"/>
          <ac:spMkLst>
            <pc:docMk/>
            <pc:sldMk cId="0" sldId="256"/>
            <ac:spMk id="9" creationId="{2399B780-971B-78A4-5E5B-BADBCCB61285}"/>
          </ac:spMkLst>
        </pc:spChg>
        <pc:spChg chg="add mod">
          <ac:chgData name="Jonathan TAY (CUSTOMS)" userId="ddb0d752-9d33-4b55-b7c0-d48663cca5d8" providerId="ADAL" clId="{80439428-F3BD-4599-B011-E7BB81EDECBE}" dt="2026-04-24T07:56:32.368" v="223" actId="20577"/>
          <ac:spMkLst>
            <pc:docMk/>
            <pc:sldMk cId="0" sldId="256"/>
            <ac:spMk id="15" creationId="{B4B3EA4D-07AD-4805-AAF4-F40144840426}"/>
          </ac:spMkLst>
        </pc:spChg>
        <pc:graphicFrameChg chg="mod modGraphic">
          <ac:chgData name="Jonathan TAY (CUSTOMS)" userId="ddb0d752-9d33-4b55-b7c0-d48663cca5d8" providerId="ADAL" clId="{80439428-F3BD-4599-B011-E7BB81EDECBE}" dt="2026-04-24T07:45:11.825" v="87" actId="6549"/>
          <ac:graphicFrameMkLst>
            <pc:docMk/>
            <pc:sldMk cId="0" sldId="256"/>
            <ac:graphicFrameMk id="3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708F3A-66C0-44D2-B878-4FBF46583F99}" type="datetimeFigureOut">
              <a:rPr lang="en-SG" smtClean="0"/>
              <a:t>27/4/2026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83B64-156C-4BC9-8EDD-B03C6403C67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9876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83B64-156C-4BC9-8EDD-B03C6403C673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35139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7256" y="33497"/>
            <a:ext cx="321107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IB Search and Link Journey </a:t>
            </a:r>
            <a:r>
              <a:rPr dirty="0"/>
              <a:t>Map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261480"/>
              </p:ext>
            </p:extLst>
          </p:nvPr>
        </p:nvGraphicFramePr>
        <p:xfrm>
          <a:off x="427256" y="549517"/>
          <a:ext cx="8411945" cy="61779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2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2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4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19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1520">
                <a:tc gridSpan="4">
                  <a:txBody>
                    <a:bodyPr/>
                    <a:lstStyle/>
                    <a:p>
                      <a:r>
                        <a:rPr lang="en-US" sz="1400" dirty="0"/>
                        <a:t>Scenario: Qing Bao, a Senior Intelligence Officer, receives a tip-off about a suspected smuggling syndicate member. He needs to quickly determine whether this person has appeared in past surveillance, reports, or communications — and identify linked associates, vehicles.</a:t>
                      </a:r>
                      <a:endParaRPr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sz="1400" dirty="0"/>
                        <a:t>Goals: Goal: Build a complete, defensible intelligence picture in minutes instead of hours.</a:t>
                      </a:r>
                      <a:endParaRPr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10574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5355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Receives tip or tasking on a person of interest</a:t>
                      </a:r>
                      <a:endParaRPr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Manually queries multiple systems/repositories one by one</a:t>
                      </a:r>
                      <a:endParaRPr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Copy and share findings, c</a:t>
                      </a:r>
                      <a:r>
                        <a:rPr sz="12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ompile</a:t>
                      </a:r>
                      <a:r>
                        <a:rPr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manually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Tries to build a timeline and relationship map manually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Presents findings verbally or via static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What do I already know about this person?</a:t>
                      </a:r>
                    </a:p>
                    <a:p>
                      <a:pPr marL="285750" indent="-285750" algn="l" defTabSz="4572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Focused but uncertain about where to start</a:t>
                      </a:r>
                      <a:endParaRPr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Will I find the relevant information soon?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 this the same John Tan?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Frustrated by long search process and duplicate name entries</a:t>
                      </a:r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Anxious about missing something important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Relationships between entities are invisible until manually mapped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is taking too long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Pressured and under-resourced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Cautious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 hope I haven't missed anything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SG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Uncertain about completeness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dirty="0"/>
                        <a:t>😊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200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sz="1200" dirty="0"/>
                        <a:t>😐        😐 Uncertain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SG" sz="1200" dirty="0"/>
                    </a:p>
                    <a:p>
                      <a:pPr algn="l"/>
                      <a:r>
                        <a:rPr lang="en-SG" sz="1200" dirty="0"/>
                        <a:t>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  <a:p>
                      <a:pPr algn="ctr"/>
                      <a:endParaRPr lang="en-US" sz="1200" dirty="0"/>
                    </a:p>
                    <a:p>
                      <a:pPr algn="ctr"/>
                      <a:endParaRPr lang="en-SG" sz="1200" dirty="0"/>
                    </a:p>
                    <a:p>
                      <a:pPr algn="ctr"/>
                      <a:r>
                        <a:rPr sz="1200" dirty="0"/>
                        <a:t>😟</a:t>
                      </a:r>
                      <a:r>
                        <a:rPr lang="en-US" sz="1200" dirty="0"/>
                        <a:t>Frustrated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  <a:p>
                      <a:pPr algn="ctr"/>
                      <a:endParaRPr lang="en-SG" sz="1200" dirty="0"/>
                    </a:p>
                    <a:p>
                      <a:pPr algn="ctr"/>
                      <a:endParaRPr lang="en-SG" sz="1200" dirty="0"/>
                    </a:p>
                    <a:p>
                      <a:pPr algn="ctr"/>
                      <a:r>
                        <a:rPr sz="1200" dirty="0"/>
                        <a:t>😟</a:t>
                      </a:r>
                      <a:r>
                        <a:rPr lang="en-US" sz="1200" dirty="0"/>
                        <a:t> Anxious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  <a:p>
                      <a:pPr algn="ctr"/>
                      <a:endParaRPr lang="en-US" sz="1200" dirty="0"/>
                    </a:p>
                    <a:p>
                      <a:pPr algn="ctr"/>
                      <a:r>
                        <a:rPr sz="1200" dirty="0"/>
                        <a:t>😐</a:t>
                      </a:r>
                      <a:r>
                        <a:rPr lang="en-US" sz="1200" dirty="0"/>
                        <a:t>Pressured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  <a:p>
                      <a:pPr algn="ctr"/>
                      <a:r>
                        <a:rPr lang="en-SG" sz="1200" dirty="0"/>
                        <a:t>😐</a:t>
                      </a:r>
                      <a:r>
                        <a:rPr lang="en-US" sz="1200" dirty="0"/>
                        <a:t>Cautious</a:t>
                      </a:r>
                      <a:endParaRPr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One query across all repositories — no multiple systems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Automatic name variation matching — no missed connections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Instant relationship graph — no manual  charting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Chronological activity view — patterns surface automatically </a:t>
                      </a:r>
                      <a:endParaRPr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Source-attributed results — findings that can be supported</a:t>
                      </a:r>
                      <a:endParaRPr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Arrow: Pentagon 3">
            <a:extLst>
              <a:ext uri="{FF2B5EF4-FFF2-40B4-BE49-F238E27FC236}">
                <a16:creationId xmlns:a16="http://schemas.microsoft.com/office/drawing/2014/main" id="{A165663B-76B7-535E-7ABF-8FD586A1B268}"/>
              </a:ext>
            </a:extLst>
          </p:cNvPr>
          <p:cNvSpPr/>
          <p:nvPr/>
        </p:nvSpPr>
        <p:spPr>
          <a:xfrm>
            <a:off x="1474896" y="1526826"/>
            <a:ext cx="1343025" cy="454962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dirty="0"/>
              <a:t>Trigger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DA9D01C5-BC76-2A99-1DEA-3E29A1C16A6A}"/>
              </a:ext>
            </a:extLst>
          </p:cNvPr>
          <p:cNvSpPr/>
          <p:nvPr/>
        </p:nvSpPr>
        <p:spPr>
          <a:xfrm>
            <a:off x="3025916" y="1526826"/>
            <a:ext cx="1343025" cy="454962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  <a:p>
            <a:pPr algn="ctr"/>
            <a:r>
              <a:rPr lang="en-SG" sz="1600" dirty="0"/>
              <a:t>Search </a:t>
            </a:r>
          </a:p>
          <a:p>
            <a:pPr algn="ctr"/>
            <a:r>
              <a:rPr lang="en-SG" sz="1600" dirty="0"/>
              <a:t> </a:t>
            </a:r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C6703E9A-F7F9-B931-6180-868BEAEBA017}"/>
              </a:ext>
            </a:extLst>
          </p:cNvPr>
          <p:cNvSpPr/>
          <p:nvPr/>
        </p:nvSpPr>
        <p:spPr>
          <a:xfrm>
            <a:off x="4572000" y="1526826"/>
            <a:ext cx="1343025" cy="454962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600" dirty="0"/>
          </a:p>
          <a:p>
            <a:pPr algn="ctr"/>
            <a:r>
              <a:rPr lang="en-SG" sz="1600" dirty="0"/>
              <a:t>Build Profile</a:t>
            </a:r>
          </a:p>
          <a:p>
            <a:pPr algn="ctr"/>
            <a:endParaRPr lang="en-SG" sz="1600" dirty="0"/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574F96E8-C159-D638-3EE0-050AF76E12E6}"/>
              </a:ext>
            </a:extLst>
          </p:cNvPr>
          <p:cNvSpPr/>
          <p:nvPr/>
        </p:nvSpPr>
        <p:spPr>
          <a:xfrm>
            <a:off x="6057544" y="1526826"/>
            <a:ext cx="1343025" cy="454962"/>
          </a:xfrm>
          <a:prstGeom prst="homePlat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dirty="0"/>
              <a:t>Analyse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2399B780-971B-78A4-5E5B-BADBCCB61285}"/>
              </a:ext>
            </a:extLst>
          </p:cNvPr>
          <p:cNvSpPr/>
          <p:nvPr/>
        </p:nvSpPr>
        <p:spPr>
          <a:xfrm>
            <a:off x="7543088" y="1569579"/>
            <a:ext cx="1238250" cy="514350"/>
          </a:xfrm>
          <a:prstGeom prst="flowChart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600" dirty="0"/>
              <a:t>Action &amp; Handoff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2515C2-D6EB-D046-A06E-22B33AB8B001}"/>
              </a:ext>
            </a:extLst>
          </p:cNvPr>
          <p:cNvSpPr txBox="1"/>
          <p:nvPr/>
        </p:nvSpPr>
        <p:spPr>
          <a:xfrm rot="16200000">
            <a:off x="476544" y="2517198"/>
            <a:ext cx="83491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/>
              <a:t>Actions</a:t>
            </a:r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A37FCC-133B-8F4D-4655-352D3A218544}"/>
              </a:ext>
            </a:extLst>
          </p:cNvPr>
          <p:cNvSpPr txBox="1"/>
          <p:nvPr/>
        </p:nvSpPr>
        <p:spPr>
          <a:xfrm rot="16200000">
            <a:off x="93659" y="3815316"/>
            <a:ext cx="1614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400" dirty="0"/>
              <a:t>Thinking /Feeling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A1F500-F78B-C44E-D216-552BEE8212ED}"/>
              </a:ext>
            </a:extLst>
          </p:cNvPr>
          <p:cNvSpPr txBox="1"/>
          <p:nvPr/>
        </p:nvSpPr>
        <p:spPr>
          <a:xfrm rot="16200000">
            <a:off x="386124" y="5184686"/>
            <a:ext cx="9774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dirty="0"/>
              <a:t>Emotions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E3FE0F-4B00-B424-E70B-DBC5427E62AC}"/>
              </a:ext>
            </a:extLst>
          </p:cNvPr>
          <p:cNvSpPr txBox="1"/>
          <p:nvPr/>
        </p:nvSpPr>
        <p:spPr>
          <a:xfrm rot="16200000">
            <a:off x="543308" y="6076324"/>
            <a:ext cx="715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Opportunities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969720-E64A-61A8-7965-43393E662FA7}"/>
              </a:ext>
            </a:extLst>
          </p:cNvPr>
          <p:cNvSpPr txBox="1"/>
          <p:nvPr/>
        </p:nvSpPr>
        <p:spPr>
          <a:xfrm rot="16200000">
            <a:off x="517086" y="1730683"/>
            <a:ext cx="71549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400" dirty="0"/>
              <a:t>Stages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D78D91-06B4-0DAB-DA75-F0AF60927D31}"/>
              </a:ext>
            </a:extLst>
          </p:cNvPr>
          <p:cNvSpPr txBox="1"/>
          <p:nvPr/>
        </p:nvSpPr>
        <p:spPr>
          <a:xfrm>
            <a:off x="1374577" y="1899063"/>
            <a:ext cx="309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i="1" dirty="0">
                <a:solidFill>
                  <a:schemeClr val="accent6">
                    <a:lumMod val="50000"/>
                  </a:schemeClr>
                </a:solidFill>
              </a:rPr>
              <a:t>from 10min (current) to &lt;3min (Interlink)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endParaRPr lang="en-SG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B3EA4D-07AD-4805-AAF4-F40144840426}"/>
              </a:ext>
            </a:extLst>
          </p:cNvPr>
          <p:cNvSpPr txBox="1"/>
          <p:nvPr/>
        </p:nvSpPr>
        <p:spPr>
          <a:xfrm>
            <a:off x="4424888" y="1887810"/>
            <a:ext cx="3095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i="1" dirty="0">
                <a:solidFill>
                  <a:schemeClr val="accent6">
                    <a:lumMod val="50000"/>
                  </a:schemeClr>
                </a:solidFill>
              </a:rPr>
              <a:t>from 1month (current) to days (Interlink)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endParaRPr lang="en-SG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272</Words>
  <Application>Microsoft Office PowerPoint</Application>
  <PresentationFormat>On-screen Show (4:3)</PresentationFormat>
  <Paragraphs>59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Jonathan TAY (CUSTOMS)</cp:lastModifiedBy>
  <cp:revision>4</cp:revision>
  <dcterms:created xsi:type="dcterms:W3CDTF">2013-01-27T09:14:16Z</dcterms:created>
  <dcterms:modified xsi:type="dcterms:W3CDTF">2026-04-27T01:16:02Z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aaa7e78-45b1-4890-b8a3-003d1d728a3e_Enabled">
    <vt:lpwstr>true</vt:lpwstr>
  </property>
  <property fmtid="{D5CDD505-2E9C-101B-9397-08002B2CF9AE}" pid="3" name="MSIP_Label_4aaa7e78-45b1-4890-b8a3-003d1d728a3e_SetDate">
    <vt:lpwstr>2026-04-27T01:16:02Z</vt:lpwstr>
  </property>
  <property fmtid="{D5CDD505-2E9C-101B-9397-08002B2CF9AE}" pid="4" name="MSIP_Label_4aaa7e78-45b1-4890-b8a3-003d1d728a3e_Method">
    <vt:lpwstr>Privileged</vt:lpwstr>
  </property>
  <property fmtid="{D5CDD505-2E9C-101B-9397-08002B2CF9AE}" pid="5" name="MSIP_Label_4aaa7e78-45b1-4890-b8a3-003d1d728a3e_Name">
    <vt:lpwstr>Non Sensitive</vt:lpwstr>
  </property>
  <property fmtid="{D5CDD505-2E9C-101B-9397-08002B2CF9AE}" pid="6" name="MSIP_Label_4aaa7e78-45b1-4890-b8a3-003d1d728a3e_SiteId">
    <vt:lpwstr>0b11c524-9a1c-4e1b-84cb-6336aefc2243</vt:lpwstr>
  </property>
  <property fmtid="{D5CDD505-2E9C-101B-9397-08002B2CF9AE}" pid="7" name="MSIP_Label_4aaa7e78-45b1-4890-b8a3-003d1d728a3e_ActionId">
    <vt:lpwstr>b65f817a-f040-4260-a1bf-e5e50b6b315a</vt:lpwstr>
  </property>
  <property fmtid="{D5CDD505-2E9C-101B-9397-08002B2CF9AE}" pid="8" name="MSIP_Label_4aaa7e78-45b1-4890-b8a3-003d1d728a3e_ContentBits">
    <vt:lpwstr>0</vt:lpwstr>
  </property>
  <property fmtid="{D5CDD505-2E9C-101B-9397-08002B2CF9AE}" pid="9" name="MSIP_Label_4aaa7e78-45b1-4890-b8a3-003d1d728a3e_Tag">
    <vt:lpwstr>10, 0, 1, 1</vt:lpwstr>
  </property>
</Properties>
</file>